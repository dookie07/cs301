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57" r:id="rId4"/>
    <p:sldId id="269" r:id="rId5"/>
    <p:sldId id="258" r:id="rId6"/>
    <p:sldId id="265" r:id="rId7"/>
    <p:sldId id="266" r:id="rId8"/>
    <p:sldId id="267" r:id="rId9"/>
    <p:sldId id="270" r:id="rId10"/>
    <p:sldId id="260" r:id="rId11"/>
    <p:sldId id="268" r:id="rId12"/>
    <p:sldId id="261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564"/>
    <p:restoredTop sz="94673"/>
  </p:normalViewPr>
  <p:slideViewPr>
    <p:cSldViewPr snapToGrid="0" snapToObjects="1">
      <p:cViewPr varScale="1">
        <p:scale>
          <a:sx n="127" d="100"/>
          <a:sy n="127" d="100"/>
        </p:scale>
        <p:origin x="184" y="1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21DC0-12DC-C14C-9E91-EF59E601B22E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08D99-DC3A-CB42-A5BF-CF05498D2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4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08D99-DC3A-CB42-A5BF-CF05498D2F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69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9677" y="949325"/>
            <a:ext cx="6053779" cy="2387600"/>
          </a:xfrm>
        </p:spPr>
        <p:txBody>
          <a:bodyPr>
            <a:normAutofit/>
          </a:bodyPr>
          <a:lstStyle/>
          <a:p>
            <a:pPr algn="l"/>
            <a:r>
              <a:rPr lang="en-US" sz="5300">
                <a:solidFill>
                  <a:schemeClr val="bg1"/>
                </a:solidFill>
              </a:rPr>
              <a:t>NYC Children Lead Testing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9676" y="3429000"/>
            <a:ext cx="6053773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Data Cleaning, Visualization &amp; Regression Modeling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Nathaly Kos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96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914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Audio 20">
            <a:extLst>
              <a:ext uri="{FF2B5EF4-FFF2-40B4-BE49-F238E27FC236}">
                <a16:creationId xmlns:a16="http://schemas.microsoft.com/office/drawing/2014/main" id="{44F73DF8-B36A-6EF4-DF5F-70F57D82DB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05"/>
    </mc:Choice>
    <mc:Fallback>
      <p:transition spd="slow" advTm="102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79A7B-FD64-FFB3-CF5C-525DEF44D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253" y="700777"/>
            <a:ext cx="5195953" cy="1325563"/>
          </a:xfrm>
        </p:spPr>
        <p:txBody>
          <a:bodyPr anchor="b"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Project Overview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AA35C-2D73-2A4C-4A6E-63B437FAF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500" y="2398957"/>
            <a:ext cx="7054999" cy="352614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NYC dataset on lead testing in children under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Focus: data cleaning, visualization,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Objective: Understand relationships and make predictions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Audio 28">
            <a:extLst>
              <a:ext uri="{FF2B5EF4-FFF2-40B4-BE49-F238E27FC236}">
                <a16:creationId xmlns:a16="http://schemas.microsoft.com/office/drawing/2014/main" id="{A49343EB-5DAB-874C-3F37-B756404CEF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38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713"/>
    </mc:Choice>
    <mc:Fallback>
      <p:transition spd="slow" advTm="22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9925"/>
            <a:ext cx="3381709" cy="132556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Task 1: Data Preparation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666" y="2283343"/>
            <a:ext cx="7054999" cy="352614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Renamed long column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Dropped unnecessary or metadata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Converted data types, handled missing and zero values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One-hot encoded the '</a:t>
            </a:r>
            <a:r>
              <a:rPr lang="en-US" sz="1800" dirty="0" err="1">
                <a:solidFill>
                  <a:schemeClr val="bg1"/>
                </a:solidFill>
              </a:rPr>
              <a:t>GeoType</a:t>
            </a:r>
            <a:r>
              <a:rPr lang="en-US" sz="1800" dirty="0">
                <a:solidFill>
                  <a:schemeClr val="bg1"/>
                </a:solidFill>
              </a:rPr>
              <a:t>' categorical column</a:t>
            </a:r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A3A4C-D8E0-F75E-FD9C-61320FC26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791" y="3749144"/>
            <a:ext cx="3915702" cy="2778031"/>
          </a:xfrm>
          <a:prstGeom prst="rect">
            <a:avLst/>
          </a:prstGeom>
        </p:spPr>
      </p:pic>
      <p:pic>
        <p:nvPicPr>
          <p:cNvPr id="23" name="Audio 22">
            <a:extLst>
              <a:ext uri="{FF2B5EF4-FFF2-40B4-BE49-F238E27FC236}">
                <a16:creationId xmlns:a16="http://schemas.microsoft.com/office/drawing/2014/main" id="{C7616FBE-D6E2-CC09-BB64-B797E5CA2C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143"/>
    </mc:Choice>
    <mc:Fallback>
      <p:transition spd="slow" advTm="104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99F62-BDD6-C520-0E28-19706F94FB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85" r="2" b="17204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pic>
        <p:nvPicPr>
          <p:cNvPr id="27" name="Audio 26">
            <a:extLst>
              <a:ext uri="{FF2B5EF4-FFF2-40B4-BE49-F238E27FC236}">
                <a16:creationId xmlns:a16="http://schemas.microsoft.com/office/drawing/2014/main" id="{97800C70-B753-11A0-90DC-398C536B1A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0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84"/>
    </mc:Choice>
    <mc:Fallback>
      <p:transition spd="slow" advTm="8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>
                <a:solidFill>
                  <a:schemeClr val="bg1"/>
                </a:solidFill>
              </a:rPr>
              <a:t>Task 2: Data Visualization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3112" y="317244"/>
            <a:ext cx="3756675" cy="4571972"/>
          </a:xfrm>
        </p:spPr>
        <p:txBody>
          <a:bodyPr anchor="ctr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Used Pearson and Spearman heatmaps to analyze correlations.</a:t>
            </a:r>
          </a:p>
          <a:p>
            <a:r>
              <a:rPr lang="en-US" sz="1700" dirty="0">
                <a:solidFill>
                  <a:schemeClr val="bg1"/>
                </a:solidFill>
              </a:rPr>
              <a:t>Used histograms, scatter plots, and boxplots to examine feature distributions and relationships.</a:t>
            </a:r>
          </a:p>
          <a:p>
            <a:r>
              <a:rPr lang="en-US" sz="1700" dirty="0">
                <a:solidFill>
                  <a:schemeClr val="bg1"/>
                </a:solidFill>
              </a:rPr>
              <a:t>Applied transformations (log, sqrt, Yeo-Johnson) to reduce skewness in features.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D6DA44-5D9C-F4ED-A11B-1DD78DAC9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171" y="3924600"/>
            <a:ext cx="5023285" cy="2331165"/>
          </a:xfrm>
          <a:prstGeom prst="rect">
            <a:avLst/>
          </a:prstGeom>
        </p:spPr>
      </p:pic>
      <p:pic>
        <p:nvPicPr>
          <p:cNvPr id="16" name="Audio 15">
            <a:extLst>
              <a:ext uri="{FF2B5EF4-FFF2-40B4-BE49-F238E27FC236}">
                <a16:creationId xmlns:a16="http://schemas.microsoft.com/office/drawing/2014/main" id="{2D185247-5DBC-189A-F013-756BA0C148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57"/>
    </mc:Choice>
    <mc:Fallback>
      <p:transition spd="slow" advTm="126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35E14F-0234-47FC-C654-9DD84BDA3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1702594"/>
            <a:ext cx="3968749" cy="34528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1B8314-9C98-02C3-5600-53E5A9A0A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648" y="1702593"/>
            <a:ext cx="3968751" cy="3452813"/>
          </a:xfrm>
          <a:prstGeom prst="rect">
            <a:avLst/>
          </a:prstGeom>
        </p:spPr>
      </p:pic>
      <p:pic>
        <p:nvPicPr>
          <p:cNvPr id="27" name="Audio 26">
            <a:extLst>
              <a:ext uri="{FF2B5EF4-FFF2-40B4-BE49-F238E27FC236}">
                <a16:creationId xmlns:a16="http://schemas.microsoft.com/office/drawing/2014/main" id="{0EA219A9-7CC1-8363-C0F1-E51B426500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47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40"/>
    </mc:Choice>
    <mc:Fallback>
      <p:transition spd="slow" advTm="192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EB243F-9F41-6430-EC90-618E2989D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1930797"/>
            <a:ext cx="3968749" cy="2996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07AEA-0791-DCCB-80C8-168BD5223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648" y="1955601"/>
            <a:ext cx="3968751" cy="2946797"/>
          </a:xfrm>
          <a:prstGeom prst="rect">
            <a:avLst/>
          </a:prstGeom>
        </p:spPr>
      </p:pic>
      <p:pic>
        <p:nvPicPr>
          <p:cNvPr id="21" name="Audio 20">
            <a:extLst>
              <a:ext uri="{FF2B5EF4-FFF2-40B4-BE49-F238E27FC236}">
                <a16:creationId xmlns:a16="http://schemas.microsoft.com/office/drawing/2014/main" id="{5C8C6AE6-885A-615F-21DA-808F38EE43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78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14"/>
    </mc:Choice>
    <mc:Fallback>
      <p:transition spd="slow" advTm="15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D8D65-AC26-1792-2940-64F94C777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" y="2346002"/>
            <a:ext cx="5037204" cy="2165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43CBAF-3282-9FBD-2445-4A08485DD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1" y="2231954"/>
            <a:ext cx="3129534" cy="2394093"/>
          </a:xfrm>
          <a:prstGeom prst="rect">
            <a:avLst/>
          </a:prstGeom>
        </p:spPr>
      </p:pic>
      <p:pic>
        <p:nvPicPr>
          <p:cNvPr id="18" name="Audio 17">
            <a:extLst>
              <a:ext uri="{FF2B5EF4-FFF2-40B4-BE49-F238E27FC236}">
                <a16:creationId xmlns:a16="http://schemas.microsoft.com/office/drawing/2014/main" id="{17842CFF-B382-BEB3-8B36-EE236AAB53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82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43"/>
    </mc:Choice>
    <mc:Fallback>
      <p:transition spd="slow" advTm="4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96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914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64D3680-8F97-067F-292B-0DE43C914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46952"/>
            <a:ext cx="7772400" cy="5764095"/>
          </a:xfrm>
          <a:prstGeom prst="rect">
            <a:avLst/>
          </a:prstGeom>
        </p:spPr>
      </p:pic>
      <p:pic>
        <p:nvPicPr>
          <p:cNvPr id="21" name="Audio 20">
            <a:extLst>
              <a:ext uri="{FF2B5EF4-FFF2-40B4-BE49-F238E27FC236}">
                <a16:creationId xmlns:a16="http://schemas.microsoft.com/office/drawing/2014/main" id="{6D84E770-825F-F072-5333-8E6C62961E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76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576"/>
    </mc:Choice>
    <mc:Fallback>
      <p:transition spd="slow" advTm="235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347" y="1450655"/>
            <a:ext cx="2949023" cy="39566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 dirty="0">
                <a:solidFill>
                  <a:schemeClr val="bg1"/>
                </a:solidFill>
              </a:rPr>
              <a:t>Task 3: Regression Analysis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9879" y="-478783"/>
            <a:ext cx="3756675" cy="4571972"/>
          </a:xfrm>
        </p:spPr>
        <p:txBody>
          <a:bodyPr anchor="ctr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Target: </a:t>
            </a:r>
            <a:r>
              <a:rPr lang="en-US" sz="1700" dirty="0" err="1">
                <a:solidFill>
                  <a:schemeClr val="bg1"/>
                </a:solidFill>
              </a:rPr>
              <a:t>Tested_Pct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</a:p>
          <a:p>
            <a:r>
              <a:rPr lang="en-US" sz="1700" dirty="0">
                <a:solidFill>
                  <a:schemeClr val="bg1"/>
                </a:solidFill>
              </a:rPr>
              <a:t>Features: </a:t>
            </a:r>
            <a:r>
              <a:rPr lang="en-US" sz="1700" dirty="0" err="1">
                <a:solidFill>
                  <a:schemeClr val="bg1"/>
                </a:solidFill>
              </a:rPr>
              <a:t>Tested_Num</a:t>
            </a:r>
            <a:r>
              <a:rPr lang="en-US" sz="1700" dirty="0">
                <a:solidFill>
                  <a:schemeClr val="bg1"/>
                </a:solidFill>
              </a:rPr>
              <a:t>, Year, </a:t>
            </a:r>
            <a:r>
              <a:rPr lang="en-US" sz="1700" dirty="0" err="1">
                <a:solidFill>
                  <a:schemeClr val="bg1"/>
                </a:solidFill>
              </a:rPr>
              <a:t>GeoType</a:t>
            </a:r>
            <a:r>
              <a:rPr lang="en-US" sz="1700" dirty="0">
                <a:solidFill>
                  <a:schemeClr val="bg1"/>
                </a:solidFill>
              </a:rPr>
              <a:t> (encoded).</a:t>
            </a:r>
          </a:p>
          <a:p>
            <a:r>
              <a:rPr lang="en-US" sz="1700" dirty="0">
                <a:solidFill>
                  <a:schemeClr val="bg1"/>
                </a:solidFill>
              </a:rPr>
              <a:t>Applied polynomial regression to capture non-linear relationships.</a:t>
            </a:r>
          </a:p>
          <a:p>
            <a:r>
              <a:rPr lang="en-US" sz="1700" dirty="0">
                <a:solidFill>
                  <a:schemeClr val="bg1"/>
                </a:solidFill>
              </a:rPr>
              <a:t>Evaluation: MAE = 4.37, RMSE = 5.34, R² = 0.1889.</a:t>
            </a:r>
          </a:p>
          <a:p>
            <a:r>
              <a:rPr lang="en-US" sz="1700" dirty="0">
                <a:solidFill>
                  <a:schemeClr val="bg1"/>
                </a:solidFill>
              </a:rPr>
              <a:t>Non-linear model improved performance from initial negative R² values.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CEF60-753C-5A6C-CA4B-5ED280010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495" y="3908844"/>
            <a:ext cx="5482660" cy="2750260"/>
          </a:xfrm>
          <a:prstGeom prst="rect">
            <a:avLst/>
          </a:prstGeom>
        </p:spPr>
      </p:pic>
      <p:pic>
        <p:nvPicPr>
          <p:cNvPr id="19" name="Audio 18">
            <a:extLst>
              <a:ext uri="{FF2B5EF4-FFF2-40B4-BE49-F238E27FC236}">
                <a16:creationId xmlns:a16="http://schemas.microsoft.com/office/drawing/2014/main" id="{FE3D4D06-1B2D-1A0F-A7B5-8E13781D1F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441"/>
    </mc:Choice>
    <mc:Fallback>
      <p:transition spd="slow" advTm="434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85FE0B-E442-5506-673D-0CE02BA79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322" y="643466"/>
            <a:ext cx="5515354" cy="5571067"/>
          </a:xfrm>
          <a:prstGeom prst="rect">
            <a:avLst/>
          </a:prstGeom>
        </p:spPr>
      </p:pic>
      <p:pic>
        <p:nvPicPr>
          <p:cNvPr id="16" name="Audio 15">
            <a:extLst>
              <a:ext uri="{FF2B5EF4-FFF2-40B4-BE49-F238E27FC236}">
                <a16:creationId xmlns:a16="http://schemas.microsoft.com/office/drawing/2014/main" id="{8E20C92F-1F48-2D3A-848C-4A125BFEF6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86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382"/>
    </mc:Choice>
    <mc:Fallback>
      <p:transition spd="slow" advTm="273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211" y="717224"/>
            <a:ext cx="4613305" cy="2154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Evaluation Metrics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C8A451-B6C1-4CB1-95FC-2DBDEC61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068597"/>
            <a:ext cx="561451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439DD6-1CCF-48C6-AF10-B70187930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70455" y="4859086"/>
            <a:ext cx="437354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A38B76-3B82-9461-099F-F807EFA80994}"/>
              </a:ext>
            </a:extLst>
          </p:cNvPr>
          <p:cNvSpPr txBox="1"/>
          <p:nvPr/>
        </p:nvSpPr>
        <p:spPr>
          <a:xfrm>
            <a:off x="918868" y="3323245"/>
            <a:ext cx="7703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R² improved to 0.19 (was negative before)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MAE reduced to 4.37, RMSE to 5.34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Better performance with polynomial regression</a:t>
            </a:r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5D2398E5-C26E-DAB1-31E5-C8478C0F38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867"/>
    </mc:Choice>
    <mc:Fallback>
      <p:transition spd="slow" advTm="378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9925"/>
            <a:ext cx="3381709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500" y="2398957"/>
            <a:ext cx="7054999" cy="3526144"/>
          </a:xfrm>
        </p:spPr>
        <p:txBody>
          <a:bodyPr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Task 1 ensured clean, usable data through preprocessing steps.</a:t>
            </a:r>
          </a:p>
          <a:p>
            <a:r>
              <a:rPr lang="en-US" sz="1700" dirty="0">
                <a:solidFill>
                  <a:schemeClr val="bg1"/>
                </a:solidFill>
              </a:rPr>
              <a:t>Task 2 visualizations exposed data skewness, relationships, and outliers.</a:t>
            </a:r>
          </a:p>
          <a:p>
            <a:r>
              <a:rPr lang="en-US" sz="1700" dirty="0">
                <a:solidFill>
                  <a:schemeClr val="bg1"/>
                </a:solidFill>
              </a:rPr>
              <a:t>Task 3 demonstrated how model accuracy improved with polynomial features.</a:t>
            </a:r>
          </a:p>
          <a:p>
            <a:r>
              <a:rPr lang="en-US" sz="1700" dirty="0">
                <a:solidFill>
                  <a:schemeClr val="bg1"/>
                </a:solidFill>
              </a:rPr>
              <a:t>Insights support future modeling with richer feature engineering and regularization.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Audio 27">
            <a:extLst>
              <a:ext uri="{FF2B5EF4-FFF2-40B4-BE49-F238E27FC236}">
                <a16:creationId xmlns:a16="http://schemas.microsoft.com/office/drawing/2014/main" id="{41036C64-3EDC-0EB3-6F26-FE6EA50B90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852"/>
    </mc:Choice>
    <mc:Fallback>
      <p:transition spd="slow" advTm="398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242</Words>
  <Application>Microsoft Macintosh PowerPoint</Application>
  <PresentationFormat>On-screen Show (4:3)</PresentationFormat>
  <Paragraphs>33</Paragraphs>
  <Slides>13</Slides>
  <Notes>1</Notes>
  <HiddenSlides>0</HiddenSlides>
  <MMClips>13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NYC Children Lead Testing Data Analysis</vt:lpstr>
      <vt:lpstr>Project Overview </vt:lpstr>
      <vt:lpstr>Task 1: Data Preparation</vt:lpstr>
      <vt:lpstr>PowerPoint Presentation</vt:lpstr>
      <vt:lpstr>Task 2: Data Visualization</vt:lpstr>
      <vt:lpstr>PowerPoint Presentation</vt:lpstr>
      <vt:lpstr>PowerPoint Presentation</vt:lpstr>
      <vt:lpstr>PowerPoint Presentation</vt:lpstr>
      <vt:lpstr>PowerPoint Presentation</vt:lpstr>
      <vt:lpstr>Task 3: Regression Analysis</vt:lpstr>
      <vt:lpstr>PowerPoint Presentation</vt:lpstr>
      <vt:lpstr>Model Evaluation Metrics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Kos, Nathaly M</cp:lastModifiedBy>
  <cp:revision>3</cp:revision>
  <dcterms:created xsi:type="dcterms:W3CDTF">2013-01-27T09:14:16Z</dcterms:created>
  <dcterms:modified xsi:type="dcterms:W3CDTF">2025-04-01T02:00:00Z</dcterms:modified>
  <cp:category/>
</cp:coreProperties>
</file>